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82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A6E2-A034-4563-8BA8-DA99B65D9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D3CD8-E602-4F2A-A479-AB30B067E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61B24-9C9D-4C2B-8332-F33CA63E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58439-D750-4490-ABC1-B47C790785FD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54BCA-CB93-48FD-849C-DB72AA331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7FDA4-3408-4167-ACA4-7AFECCEB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ACFD6-FC47-41FE-8A82-1C919E3EB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9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2604-5924-4859-9D22-496B9C597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8D710-66C7-4D7C-BA24-D39BDFECF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F11ED-8CAD-4B9A-8CAC-183A7D24C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58439-D750-4490-ABC1-B47C790785FD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BD1B3-9E71-4FF2-AC24-D1BBCD49D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C2F58-E314-499A-9971-8DC45A392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ACFD6-FC47-41FE-8A82-1C919E3EB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FA2D1-811D-4EA2-B0D5-B29055D20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07613-1855-4D85-97F4-57181B0E6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023AC-27FA-471B-8C92-2815E048E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58439-D750-4490-ABC1-B47C790785FD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B869B-C0F7-4E00-9F74-3F3C5BF0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801A2-36EB-473D-9954-617F0FAE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ACFD6-FC47-41FE-8A82-1C919E3EB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54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E1CD-8B37-49C5-90F9-B7AAA2AB5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4CF5F-7363-4EDD-B990-2691B4EB4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1D281-2A7B-4CCA-863C-BD337213A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73702-EC6F-4BF6-8D14-B50523E5B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58439-D750-4490-ABC1-B47C790785FD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7B5ED-9276-4031-9E2A-B52F735D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7C296-576E-4763-8C68-E03E560B1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ACFD6-FC47-41FE-8A82-1C919E3EB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61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CB7DE-3B09-49F5-9A65-F7B3E80EA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9E942-7399-4C61-A315-923833DF0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67AC5-57CA-407B-B78D-CCE12DD90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44F6B3-FE81-41D1-8ADC-05BEDF03C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0864A-95EE-44BC-90ED-2F2D446AE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DD5616-5BB5-4BE6-99D3-B58C5F11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58439-D750-4490-ABC1-B47C790785FD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6E1E79-45BE-43EA-96AB-A863ACF5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BE0E75-2472-4269-B53B-F32C3580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ACFD6-FC47-41FE-8A82-1C919E3EB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21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9B895-E7C9-40F3-9CFA-196DB827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A3142F-5F91-437F-A7D6-0C707C96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58439-D750-4490-ABC1-B47C790785FD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B5F500-9F2E-458D-94C4-9ED2A79BE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2B47A-6860-46FA-ABA8-F9C01AED3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ACFD6-FC47-41FE-8A82-1C919E3EB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47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19E729-6BE4-4CCA-BE3D-C03E7167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58439-D750-4490-ABC1-B47C790785FD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635CFE-F51D-4040-97EB-5C3B5C60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A9F01-FE6A-46BB-88F7-EE1661068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ACFD6-FC47-41FE-8A82-1C919E3EB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C3D75-4B41-49DD-8218-BCF01673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02A5B-2A63-41E5-8987-6CD2C1E13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31B0E-C0CD-4A95-BA83-9B87D0157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44A7-3BEC-4364-ACC5-05A42F7E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58439-D750-4490-ABC1-B47C790785FD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29217-A765-447B-AD5C-61EA1DF7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D4312-2503-4B31-8355-F400EB61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ACFD6-FC47-41FE-8A82-1C919E3EB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9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77FEC-D15D-43CD-9B11-3A8496826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93A46-D3C9-4F20-A8B7-71CB34B71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04193-84F0-4900-8779-5E7492E1C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E4828-8EE2-47EF-AF56-786A7F4C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58439-D750-4490-ABC1-B47C790785FD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42AF1-D4F4-4CC6-9F03-C2A38283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CB243-B651-4056-9291-FB00F5DD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ACFD6-FC47-41FE-8A82-1C919E3EB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03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AC2E0-0D3F-44C0-822F-6B9B0256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CF822-8D93-4EC2-A874-B0A9A0322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BFA84-8125-4A47-A1C5-AC0AF247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58439-D750-4490-ABC1-B47C790785FD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B67DA-9E86-4453-9F39-9551DBD6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56DDE-9761-4AB3-8D39-15470A199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ACFD6-FC47-41FE-8A82-1C919E3EB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4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82A593-FF90-4DB3-B125-A5541EF5A2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FF865-9E4B-407A-8B5A-931E6DEB9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0B91F-7235-42DC-9EC3-6CB85CB7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58439-D750-4490-ABC1-B47C790785FD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447BD-1D71-44FB-911C-CCD47BB5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44388-C2E3-4D40-876D-F94850C0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ACFD6-FC47-41FE-8A82-1C919E3EB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96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90028-D23D-4235-99D5-553449109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BA5F1-E392-41AB-8B86-7C1F69DFF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7AD47-5912-44AE-8247-5893F1018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58439-D750-4490-ABC1-B47C790785FD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EABDE-8C1D-4680-806B-2E6FCE77F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017A5-4655-4555-8367-8F0CF92E7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ACFD6-FC47-41FE-8A82-1C919E3EB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8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39EB96B-A9C3-4434-8481-2DA0E084F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743575"/>
              </p:ext>
            </p:extLst>
          </p:nvPr>
        </p:nvGraphicFramePr>
        <p:xfrm>
          <a:off x="411695" y="1106669"/>
          <a:ext cx="11466837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519">
                  <a:extLst>
                    <a:ext uri="{9D8B030D-6E8A-4147-A177-3AD203B41FA5}">
                      <a16:colId xmlns:a16="http://schemas.microsoft.com/office/drawing/2014/main" val="1838479802"/>
                    </a:ext>
                  </a:extLst>
                </a:gridCol>
                <a:gridCol w="2128680">
                  <a:extLst>
                    <a:ext uri="{9D8B030D-6E8A-4147-A177-3AD203B41FA5}">
                      <a16:colId xmlns:a16="http://schemas.microsoft.com/office/drawing/2014/main" val="656800301"/>
                    </a:ext>
                  </a:extLst>
                </a:gridCol>
                <a:gridCol w="2094397">
                  <a:extLst>
                    <a:ext uri="{9D8B030D-6E8A-4147-A177-3AD203B41FA5}">
                      <a16:colId xmlns:a16="http://schemas.microsoft.com/office/drawing/2014/main" val="1716322535"/>
                    </a:ext>
                  </a:extLst>
                </a:gridCol>
                <a:gridCol w="1753695">
                  <a:extLst>
                    <a:ext uri="{9D8B030D-6E8A-4147-A177-3AD203B41FA5}">
                      <a16:colId xmlns:a16="http://schemas.microsoft.com/office/drawing/2014/main" val="816549862"/>
                    </a:ext>
                  </a:extLst>
                </a:gridCol>
                <a:gridCol w="3720546">
                  <a:extLst>
                    <a:ext uri="{9D8B030D-6E8A-4147-A177-3AD203B41FA5}">
                      <a16:colId xmlns:a16="http://schemas.microsoft.com/office/drawing/2014/main" val="3152140525"/>
                    </a:ext>
                  </a:extLst>
                </a:gridCol>
              </a:tblGrid>
              <a:tr h="250988">
                <a:tc>
                  <a:txBody>
                    <a:bodyPr/>
                    <a:lstStyle/>
                    <a:p>
                      <a:r>
                        <a:rPr lang="en-US" sz="1400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Input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012993"/>
                  </a:ext>
                </a:extLst>
              </a:tr>
              <a:tr h="250988">
                <a:tc>
                  <a:txBody>
                    <a:bodyPr/>
                    <a:lstStyle/>
                    <a:p>
                      <a:r>
                        <a:rPr lang="en-US" sz="1400" dirty="0"/>
                        <a:t>MC2022MF.m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Ky T M Sa(1.3Ts)   PGV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522981"/>
                  </a:ext>
                </a:extLst>
              </a:tr>
              <a:tr h="426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MC2022MS.m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Traditional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Ky T M Sa(1.3Ts)   PGV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intraslab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970169"/>
                  </a:ext>
                </a:extLst>
              </a:tr>
              <a:tr h="1094371">
                <a:tc>
                  <a:txBody>
                    <a:bodyPr/>
                    <a:lstStyle/>
                    <a:p>
                      <a:r>
                        <a:rPr lang="en-US" sz="1400" dirty="0" err="1"/>
                        <a:t>Mltestmdl.m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Ky T M Sa(1.3Ts)   PGV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Interface/intraslab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The code in this file represents a common workflow that all other ML models will follow. The major part that varies from this one to other ML models is the params read by ‘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py.joblib.load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174369"/>
                  </a:ext>
                </a:extLst>
              </a:tr>
              <a:tr h="778064">
                <a:tc>
                  <a:txBody>
                    <a:bodyPr/>
                    <a:lstStyle/>
                    <a:p>
                      <a:r>
                        <a:rPr lang="en-US" sz="1400" dirty="0"/>
                        <a:t>PLSR1IMF.m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Machine learning using partial least square regression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Ky T M Sa(1.3Ts)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This model is a special case with only 1IM. The reason for only using one IM is for the later implementation of PCE (i.e., </a:t>
                      </a:r>
                      <a:r>
                        <a:rPr lang="en-US" sz="1400" dirty="0" err="1"/>
                        <a:t>PLSR_cdmMF.m</a:t>
                      </a:r>
                      <a:r>
                        <a:rPr lang="en-US" sz="1400" dirty="0"/>
                        <a:t>).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090777"/>
                  </a:ext>
                </a:extLst>
              </a:tr>
              <a:tr h="9537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PLSR1IMS.m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Machine learning using partial least square regression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Ky T M Sa(1.3Ts)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intraslab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Same as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885258"/>
                  </a:ext>
                </a:extLst>
              </a:tr>
              <a:tr h="778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PLSR_cdmMF.m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Machine learning using partial least square regression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Ky T M Sa(1.3Ts)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PCE implementation of PLSR1IMF.m, modified according to BT2007_cdmM.m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2627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C35B902-6C5F-4797-911D-9CE2528FFBF3}"/>
              </a:ext>
            </a:extLst>
          </p:cNvPr>
          <p:cNvSpPr txBox="1"/>
          <p:nvPr/>
        </p:nvSpPr>
        <p:spPr>
          <a:xfrm>
            <a:off x="138677" y="91006"/>
            <a:ext cx="116416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Files I have shared</a:t>
            </a:r>
            <a:r>
              <a:rPr lang="en-US" sz="2000" dirty="0"/>
              <a:t>. The input feeds into python ML models must be a matrix with each row represents a data point and each column  represents a parameter. The column order should be </a:t>
            </a:r>
            <a:r>
              <a:rPr lang="en-US" sz="2000" dirty="0" err="1"/>
              <a:t>lnky</a:t>
            </a:r>
            <a:r>
              <a:rPr lang="en-US" sz="2000" dirty="0"/>
              <a:t>, T, M, lnSA1.3Ts, (</a:t>
            </a:r>
            <a:r>
              <a:rPr lang="en-US" sz="2000" dirty="0" err="1"/>
              <a:t>lnPGV</a:t>
            </a:r>
            <a:r>
              <a:rPr lang="en-US" sz="2000" dirty="0"/>
              <a:t>, optional for 1IM model)</a:t>
            </a:r>
          </a:p>
        </p:txBody>
      </p:sp>
    </p:spTree>
    <p:extLst>
      <p:ext uri="{BB962C8B-B14F-4D97-AF65-F5344CB8AC3E}">
        <p14:creationId xmlns:p14="http://schemas.microsoft.com/office/powerpoint/2010/main" val="2114654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39EB96B-A9C3-4434-8481-2DA0E084F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216863"/>
              </p:ext>
            </p:extLst>
          </p:nvPr>
        </p:nvGraphicFramePr>
        <p:xfrm>
          <a:off x="425419" y="278768"/>
          <a:ext cx="9645983" cy="832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532">
                  <a:extLst>
                    <a:ext uri="{9D8B030D-6E8A-4147-A177-3AD203B41FA5}">
                      <a16:colId xmlns:a16="http://schemas.microsoft.com/office/drawing/2014/main" val="1838479802"/>
                    </a:ext>
                  </a:extLst>
                </a:gridCol>
                <a:gridCol w="2265723">
                  <a:extLst>
                    <a:ext uri="{9D8B030D-6E8A-4147-A177-3AD203B41FA5}">
                      <a16:colId xmlns:a16="http://schemas.microsoft.com/office/drawing/2014/main" val="656800301"/>
                    </a:ext>
                  </a:extLst>
                </a:gridCol>
                <a:gridCol w="1286759">
                  <a:extLst>
                    <a:ext uri="{9D8B030D-6E8A-4147-A177-3AD203B41FA5}">
                      <a16:colId xmlns:a16="http://schemas.microsoft.com/office/drawing/2014/main" val="1716322535"/>
                    </a:ext>
                  </a:extLst>
                </a:gridCol>
                <a:gridCol w="1475220">
                  <a:extLst>
                    <a:ext uri="{9D8B030D-6E8A-4147-A177-3AD203B41FA5}">
                      <a16:colId xmlns:a16="http://schemas.microsoft.com/office/drawing/2014/main" val="816549862"/>
                    </a:ext>
                  </a:extLst>
                </a:gridCol>
                <a:gridCol w="3129749">
                  <a:extLst>
                    <a:ext uri="{9D8B030D-6E8A-4147-A177-3AD203B41FA5}">
                      <a16:colId xmlns:a16="http://schemas.microsoft.com/office/drawing/2014/main" val="3152140525"/>
                    </a:ext>
                  </a:extLst>
                </a:gridCol>
              </a:tblGrid>
              <a:tr h="250190">
                <a:tc>
                  <a:txBody>
                    <a:bodyPr/>
                    <a:lstStyle/>
                    <a:p>
                      <a:r>
                        <a:rPr lang="en-US" sz="1200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Type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Input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012993"/>
                  </a:ext>
                </a:extLst>
              </a:tr>
              <a:tr h="416984">
                <a:tc>
                  <a:txBody>
                    <a:bodyPr/>
                    <a:lstStyle/>
                    <a:p>
                      <a:r>
                        <a:rPr lang="en-US" sz="1200" dirty="0" err="1"/>
                        <a:t>RidgeMF.m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 using 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Ky T M Sa(1.3Ts)   PGV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interface</a:t>
                      </a:r>
                    </a:p>
                  </a:txBody>
                  <a:tcPr/>
                </a:tc>
                <a:tc rowSpan="1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 All these models follow the same code pattern as the </a:t>
                      </a:r>
                      <a:r>
                        <a:rPr lang="en-US" sz="1200" dirty="0" err="1"/>
                        <a:t>Mltestmdl.m</a:t>
                      </a:r>
                      <a:r>
                        <a:rPr lang="en-US" sz="1200" dirty="0"/>
                        <a:t> shown in previous slide. Firstly, the </a:t>
                      </a:r>
                      <a:r>
                        <a:rPr lang="en-US" sz="1200" dirty="0" err="1"/>
                        <a:t>correposnding</a:t>
                      </a:r>
                      <a:r>
                        <a:rPr lang="en-US" sz="1200" dirty="0"/>
                        <a:t> .</a:t>
                      </a:r>
                      <a:r>
                        <a:rPr lang="en-US" sz="1200" dirty="0" err="1"/>
                        <a:t>joblib</a:t>
                      </a:r>
                      <a:r>
                        <a:rPr lang="en-US" sz="1200" dirty="0"/>
                        <a:t> file is loaded for each model and the input are converted to a matrix to the model and the </a:t>
                      </a:r>
                      <a:r>
                        <a:rPr lang="en-US" sz="1200" dirty="0" err="1"/>
                        <a:t>lnD</a:t>
                      </a:r>
                      <a:r>
                        <a:rPr lang="en-US" sz="1200" dirty="0"/>
                        <a:t> is calculated. Hence it is straight forward to implement them after </a:t>
                      </a:r>
                      <a:r>
                        <a:rPr lang="en-US" sz="1200" dirty="0" err="1"/>
                        <a:t>Mltestmdl.m</a:t>
                      </a:r>
                      <a:r>
                        <a:rPr lang="en-US" sz="1200" dirty="0"/>
                        <a:t> is implemented.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522981"/>
                  </a:ext>
                </a:extLst>
              </a:tr>
              <a:tr h="5837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RidgeMS.m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 using Ridge regression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Ky T M Sa(1.3Ts)   PGV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intraslab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970169"/>
                  </a:ext>
                </a:extLst>
              </a:tr>
              <a:tr h="5837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SVRMF.m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 using support vector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Ky T M Sa(1.3Ts)   PGV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Interface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174369"/>
                  </a:ext>
                </a:extLst>
              </a:tr>
              <a:tr h="5837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SVRMS.m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 using support vector regression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Ky T M Sa(1.3Ts)   PGV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intraslab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090777"/>
                  </a:ext>
                </a:extLst>
              </a:tr>
              <a:tr h="7505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RFMS.m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 using random forest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Ky T M Sa(1.3Ts)   PGV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Interface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885258"/>
                  </a:ext>
                </a:extLst>
              </a:tr>
              <a:tr h="5837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RFMS.m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 using 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Ky T M Sa(1.3Ts)   PGV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intraslab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262781"/>
                  </a:ext>
                </a:extLst>
              </a:tr>
              <a:tr h="5837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GBDTMF.m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Machine learning using gradient boosting decision tree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Ky T M Sa(1.3Ts)   PGV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Interface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624530"/>
                  </a:ext>
                </a:extLst>
              </a:tr>
              <a:tr h="7505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GBDTMS.m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Machine learning using gradient boosting decision tree</a:t>
                      </a:r>
                    </a:p>
                    <a:p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Ky T M Sa(1.3Ts)   PGV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intraslab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170123"/>
                  </a:ext>
                </a:extLst>
              </a:tr>
              <a:tr h="7505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ANNMF.m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Machine learning using artificial neural network</a:t>
                      </a:r>
                    </a:p>
                    <a:p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Ky T M Sa(1.3Ts)   PGV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Interface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445263"/>
                  </a:ext>
                </a:extLst>
              </a:tr>
              <a:tr h="5837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ANNMS.m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Machine learning using artificial neural network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Ky T M Sa(1.3Ts)   PGV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intraslab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657162"/>
                  </a:ext>
                </a:extLst>
              </a:tr>
              <a:tr h="5837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PCRMF.m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Machine learning using principal component regression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Ky T M Sa(1.3Ts)   PGV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Interface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595931"/>
                  </a:ext>
                </a:extLst>
              </a:tr>
              <a:tr h="5837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PCRMS.m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Machine learning using principal component regression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Ky T M Sa(1.3Ts)   PGV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intraslab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03942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C35B902-6C5F-4797-911D-9CE2528FFBF3}"/>
              </a:ext>
            </a:extLst>
          </p:cNvPr>
          <p:cNvSpPr txBox="1"/>
          <p:nvPr/>
        </p:nvSpPr>
        <p:spPr>
          <a:xfrm>
            <a:off x="275186" y="-47670"/>
            <a:ext cx="11641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Files I will add and modify by myself</a:t>
            </a:r>
            <a:r>
              <a:rPr lang="en-US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14488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A27F-E93C-49C2-899F-2E134C170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195" y="170111"/>
            <a:ext cx="10515600" cy="1325563"/>
          </a:xfrm>
        </p:spPr>
        <p:txBody>
          <a:bodyPr/>
          <a:lstStyle/>
          <a:p>
            <a:r>
              <a:rPr lang="en-US" dirty="0"/>
              <a:t>Details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384D-E3D9-4A37-9819-4DA27D080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750"/>
            <a:ext cx="10515600" cy="503721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fixed the error related to the PCE for: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SeismicHazardPlatform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BETA\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z_papers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\Examples PSDA\Test_psda8.txt, which uses BT2007_cdmM for PCE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Makes the loading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as an external input parameter for the model function.  i.e.,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Mltestmdl.m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1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mdl = </a:t>
            </a:r>
            <a:r>
              <a:rPr lang="en-US" sz="18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py.joblib.load</a:t>
            </a:r>
            <a:r>
              <a:rPr lang="en-US" sz="1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("D:\SeismicHazardPlatform - BETA\</a:t>
            </a:r>
            <a:r>
              <a:rPr lang="en-US" sz="18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SeismicHazardPlatform</a:t>
            </a:r>
            <a:r>
              <a:rPr lang="en-US" sz="1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BETA\</a:t>
            </a:r>
            <a:r>
              <a:rPr lang="en-US" sz="18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platform_methods</a:t>
            </a:r>
            <a:r>
              <a:rPr lang="en-US" sz="1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18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slopemodels</a:t>
            </a:r>
            <a:r>
              <a:rPr lang="en-US" sz="1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18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ML_test_mdl.joblib</a:t>
            </a:r>
            <a:r>
              <a:rPr lang="en-US" sz="1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should be deleted and the mdl variable should be take as an input parameter (</a:t>
            </a:r>
            <a:r>
              <a:rPr lang="en-US" sz="24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varargin</a:t>
            </a: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to the model function. Hence we only need to read </a:t>
            </a:r>
            <a:r>
              <a:rPr lang="en-US" sz="24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ML_test_mdl.joblib</a:t>
            </a: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once</a:t>
            </a:r>
            <a:r>
              <a:rPr lang="en-US" sz="2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 so much      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393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681</Words>
  <Application>Microsoft Office PowerPoint</Application>
  <PresentationFormat>Widescreen</PresentationFormat>
  <Paragraphs>95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Details requests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Liu, Chenying</dc:creator>
  <cp:lastModifiedBy>Liu, Chenying</cp:lastModifiedBy>
  <cp:revision>6</cp:revision>
  <dcterms:created xsi:type="dcterms:W3CDTF">2022-01-11T03:50:51Z</dcterms:created>
  <dcterms:modified xsi:type="dcterms:W3CDTF">2022-01-11T04:19:51Z</dcterms:modified>
</cp:coreProperties>
</file>